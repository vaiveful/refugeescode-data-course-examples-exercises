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1" r:id="rId19"/>
    <p:sldId id="274" r:id="rId20"/>
    <p:sldId id="275" r:id="rId21"/>
    <p:sldId id="276" r:id="rId22"/>
    <p:sldId id="277" r:id="rId23"/>
    <p:sldId id="292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0238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77D28-F258-0DC9-E82A-435442770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15F46A-5DDC-39AA-9EAA-6B93B0E25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3C22F8-F90D-DFC6-C4A7-18DD2A94A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D7A27-C4A4-1D6D-EC1C-502A5BB53F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8912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937760" y="0"/>
            <a:ext cx="201168" cy="514350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Dashboard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349240" y="457200"/>
            <a:ext cx="475488" cy="475488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3492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97880" y="51206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+ Data Loading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49240" y="1554480"/>
            <a:ext cx="475488" cy="475488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349240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897880" y="16093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49240" y="2651760"/>
            <a:ext cx="475488" cy="475488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349240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897880" y="270662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+ DAX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49240" y="3749040"/>
            <a:ext cx="475488" cy="475488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349240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897880" y="380390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Storytelling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01 / 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+ Data Loading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02920" y="4754880"/>
            <a:ext cx="128016" cy="128016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50392" y="4754880"/>
            <a:ext cx="128016" cy="128016"/>
          </a:xfrm>
          <a:prstGeom prst="ellipse">
            <a:avLst/>
          </a:prstGeom>
          <a:solidFill>
            <a:srgbClr val="E07A5F">
              <a:alpha val="40000"/>
            </a:srgbClr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97864" y="4754880"/>
            <a:ext cx="128016" cy="128016"/>
          </a:xfrm>
          <a:prstGeom prst="ellipse">
            <a:avLst/>
          </a:prstGeom>
          <a:solidFill>
            <a:srgbClr val="E07A5F">
              <a:alpha val="40000"/>
            </a:srgbClr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545336" y="4754880"/>
            <a:ext cx="128016" cy="128016"/>
          </a:xfrm>
          <a:prstGeom prst="ellipse">
            <a:avLst/>
          </a:prstGeom>
          <a:solidFill>
            <a:srgbClr val="E07A5F">
              <a:alpha val="40000"/>
            </a:srgbClr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892808" y="4754880"/>
            <a:ext cx="128016" cy="128016"/>
          </a:xfrm>
          <a:prstGeom prst="ellipse">
            <a:avLst/>
          </a:prstGeom>
          <a:solidFill>
            <a:srgbClr val="E07A5F">
              <a:alpha val="40000"/>
            </a:srgbClr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Power BI?  (in business terms)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2788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56032" y="749808"/>
            <a:ext cx="2788920" cy="43891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84048" y="7863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13716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📊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20624" y="2468880"/>
            <a:ext cx="24871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from Excel, CSV, SQL, SharePoint, cloud APIs — 100+ connectors built-in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63824" y="749808"/>
            <a:ext cx="2788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163824" y="749808"/>
            <a:ext cx="2788920" cy="43891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291840" y="7863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41064" y="13716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🔧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328416" y="2468880"/>
            <a:ext cx="24871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reshape raw data in Power Query before it enters your model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71616" y="749808"/>
            <a:ext cx="2788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071616" y="749808"/>
            <a:ext cx="2788920" cy="43891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199632" y="7863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48856" y="13716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📈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236208" y="2468880"/>
            <a:ext cx="24871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dashboards your whole team can filter, explore and share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56032" y="4754880"/>
            <a:ext cx="8631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not Excel?  Power BI handles millions of rows, live connections, and team-shared dashboards — Excel struggles with all three.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vs Service vs Mobile App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713232"/>
            <a:ext cx="27889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56032" y="713232"/>
            <a:ext cx="2788920" cy="402336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0704" y="1170432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🖥️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20624" y="1965960"/>
            <a:ext cx="2487168" cy="292608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20624" y="196596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BUILD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4048" y="2331720"/>
            <a:ext cx="259689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Windows application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Connect, clean &amp; model data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DAX measures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report pages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locally as .pbix file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Service when ready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63824" y="713232"/>
            <a:ext cx="27889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163824" y="713232"/>
            <a:ext cx="2788920" cy="402336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273552" y="7498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68496" y="1170432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☁️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3328416" y="1965960"/>
            <a:ext cx="2487168" cy="292608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328416" y="196596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SHARE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91840" y="2331720"/>
            <a:ext cx="259689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app.powerbi.com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reports from Desktop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colleagues &amp; teams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automatic data refresh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dashboards (pinned tiles)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Power BI Pro / Premium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71616" y="713232"/>
            <a:ext cx="27889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071616" y="713232"/>
            <a:ext cx="2788920" cy="40233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181344" y="7498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Mobile App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76288" y="1170432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6236208" y="1965960"/>
            <a:ext cx="2487168" cy="292608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236208" y="196596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CONSUME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199632" y="2331720"/>
            <a:ext cx="259689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and Android — free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interact with reports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data alerts on KPIs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 and share snapshots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— no building or editing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the Service automatically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56032" y="4882896"/>
            <a:ext cx="8631936" cy="201168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02336" y="4901184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workflow:  Build in Desktop  →  Publish to Service  →  Share link  →  Team views on browser or Mobile App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Walkthrough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2788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56032" y="749808"/>
            <a:ext cx="2788920" cy="329184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786384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View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1188720"/>
            <a:ext cx="2587752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pages and build visuals here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63824" y="749808"/>
            <a:ext cx="2788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163824" y="749808"/>
            <a:ext cx="2788920" cy="329184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273552" y="786384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View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91840" y="1188720"/>
            <a:ext cx="2587752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inspect your raw table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71616" y="749808"/>
            <a:ext cx="281635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071616" y="749808"/>
            <a:ext cx="2816352" cy="32918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181344" y="7863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View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99632" y="1188720"/>
            <a:ext cx="2615184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manage table relationships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" y="2944368"/>
            <a:ext cx="2788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56032" y="2944368"/>
            <a:ext cx="2788920" cy="329184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65760" y="2980944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Pane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4048" y="3383280"/>
            <a:ext cx="2587752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columns and measures onto visuals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63824" y="2944368"/>
            <a:ext cx="2788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163824" y="2944368"/>
            <a:ext cx="2788920" cy="329184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273552" y="2980944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291840" y="3383280"/>
            <a:ext cx="2587752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chart types and format them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71616" y="2944368"/>
            <a:ext cx="281635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071616" y="2944368"/>
            <a:ext cx="2816352" cy="329184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181344" y="29809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Pane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199632" y="3383280"/>
            <a:ext cx="2615184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Visual, page or report-level filters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— Why They Matter (Don't Skip This)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658368"/>
            <a:ext cx="8631936" cy="347472"/>
          </a:xfrm>
          <a:prstGeom prst="rect">
            <a:avLst/>
          </a:prstGeom>
          <a:solidFill>
            <a:srgbClr val="FFF0ED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02336" y="69494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Wrong data type = wrong calculation. Dates as text won't filter. Revenue as text won't SUM.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078992"/>
            <a:ext cx="157276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56032" y="1078992"/>
            <a:ext cx="1572768" cy="43891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93776" y="16916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🔢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2487168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7472" y="315468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Units, Customer ID, Rank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993392" y="1078992"/>
            <a:ext cx="157276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993392" y="1078992"/>
            <a:ext cx="1572768" cy="43891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231136" y="16916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💲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084832" y="2487168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/ Fixed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084832" y="315468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Prices, Rates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730752" y="1078992"/>
            <a:ext cx="157276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730752" y="1078992"/>
            <a:ext cx="1572768" cy="43891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968496" y="16916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📅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822192" y="2487168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/ DateTime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822192" y="315468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date, Due date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68112" y="1078992"/>
            <a:ext cx="157276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5468112" y="1078992"/>
            <a:ext cx="1572768" cy="43891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705856" y="16916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🔤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559552" y="2487168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559552" y="315468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Product, Category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205472" y="1078992"/>
            <a:ext cx="157276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7205472" y="1078992"/>
            <a:ext cx="1572768" cy="43891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7443216" y="16916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296912" y="2487168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296912" y="315468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Active, Has Discount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Data — Excel &amp; CSV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713232"/>
            <a:ext cx="411480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56032" y="713232"/>
            <a:ext cx="4114800" cy="34747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84048" y="749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📗  Excel Import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1133856"/>
            <a:ext cx="3913632" cy="3639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Get Data → Excel Workbook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shows all sheets and tables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data before loading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prefer named Tables over raw sheets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Use Transform Data to enter Power Query first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73168" y="713232"/>
            <a:ext cx="411480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773168" y="713232"/>
            <a:ext cx="4114800" cy="34747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901184" y="749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CSV Import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01184" y="1133856"/>
            <a:ext cx="3913632" cy="3639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Get Data → Text/CSV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auto-detects the delimiter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Double-check: comma vs semicolon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encoding: UTF-8 vs Latin-1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first row is being used as headers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6032" y="4919472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Both formats: always check column names and data types in the preview BEFORE clicking Load.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Simple Visuals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713232"/>
            <a:ext cx="27889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56032" y="713232"/>
            <a:ext cx="2788920" cy="402336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Bar Chart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207008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Compare categories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920240"/>
            <a:ext cx="2560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Region → Axis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Sales → Values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bars highest to lowest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title, data colours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63824" y="713232"/>
            <a:ext cx="27889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163824" y="713232"/>
            <a:ext cx="2788920" cy="402336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273552" y="7498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1207008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Show row-level detail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1920240"/>
            <a:ext cx="2560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Table visual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relevant columns in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header to sort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columns by dragging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71616" y="713232"/>
            <a:ext cx="27889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071616" y="713232"/>
            <a:ext cx="2788920" cy="40233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181344" y="7498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  Card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99632" y="1207008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Headline KPI number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99632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99632" y="1920240"/>
            <a:ext cx="2560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Card visual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 measure into it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the field label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and position as KPI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— Making Your Report Interactive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92608" y="658368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slicer is a visual filter on the canvas. It's the #1 way users interact with your reports.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56032" y="1078992"/>
            <a:ext cx="4114800" cy="34747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84048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add a Slicer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1499616"/>
            <a:ext cx="3913632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Slicer icon in the Visualisations pane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 column into the Field well (e.g. Region, Year)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click values to filter the whole page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Ctrl to select multiple values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73168" y="1078992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773168" y="1078992"/>
            <a:ext cx="4114800" cy="34747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901184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types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01184" y="1499616"/>
            <a:ext cx="3913632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 — one or many selections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 — saves space on small pages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 — for date ranges (e.g. Jan to Mar)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 — visual buttons for categories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6032" y="3200400"/>
            <a:ext cx="863193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56032" y="3200400"/>
            <a:ext cx="8631936" cy="34747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84048" y="323697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Cross-filtering — the 'aha!' moment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3621024"/>
            <a:ext cx="8321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bar in a chart → every other chart on the page automatically filters to match. No setup required — it's on by default. This is what makes Power BI feel alive compared to a static spreadsheet.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Session 1 — Exercise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631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Session_1_ Superstore.csv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2743200" cy="34747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84048" y="1024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 — Sales by Region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1408176"/>
            <a:ext cx="2542032" cy="3300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Superstore dataset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Bar Chart: Region vs Sales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highest to lowest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Card: Total Sales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987552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200400" y="987552"/>
            <a:ext cx="2743200" cy="34747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328416" y="1024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 — Top 5 Products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28416" y="1408176"/>
            <a:ext cx="2542032" cy="3300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Table visual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Product ID, Product Name , Sum of Sales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Top N filter: Top 5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Sales descending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987552"/>
            <a:ext cx="2487168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400800" y="987552"/>
            <a:ext cx="2487168" cy="34747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528816" y="102412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 — Add a Slicer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28816" y="1408176"/>
            <a:ext cx="2286000" cy="3300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Slicer for Region &amp; State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West — watch all visuals update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multi-select (Ctrl + click)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your first .pbix file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02 / 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— Cleaning Data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02920" y="4754880"/>
            <a:ext cx="128016" cy="128016"/>
          </a:xfrm>
          <a:prstGeom prst="ellipse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50392" y="4754880"/>
            <a:ext cx="128016" cy="128016"/>
          </a:xfrm>
          <a:prstGeom prst="ellipse">
            <a:avLst/>
          </a:prstGeom>
          <a:solidFill>
            <a:srgbClr val="3D9970">
              <a:alpha val="40000"/>
            </a:srgbClr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97864" y="4754880"/>
            <a:ext cx="128016" cy="128016"/>
          </a:xfrm>
          <a:prstGeom prst="ellipse">
            <a:avLst/>
          </a:prstGeom>
          <a:solidFill>
            <a:srgbClr val="3D9970">
              <a:alpha val="40000"/>
            </a:srgbClr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545336" y="4754880"/>
            <a:ext cx="128016" cy="128016"/>
          </a:xfrm>
          <a:prstGeom prst="ellipse">
            <a:avLst/>
          </a:prstGeom>
          <a:solidFill>
            <a:srgbClr val="3D9970">
              <a:alpha val="40000"/>
            </a:srgbClr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892808" y="4754880"/>
            <a:ext cx="128016" cy="128016"/>
          </a:xfrm>
          <a:prstGeom prst="ellipse">
            <a:avLst/>
          </a:prstGeom>
          <a:solidFill>
            <a:srgbClr val="3D9970">
              <a:alpha val="40000"/>
            </a:srgbClr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 Cleaning Matters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685800"/>
            <a:ext cx="8631936" cy="96012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38912" y="80467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"80% of your time in real jobs is cleaning data."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1847088"/>
            <a:ext cx="153619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56032" y="2029968"/>
            <a:ext cx="15361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" y="281635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as Text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3364992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filter by year, quarter, or month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965960" y="1847088"/>
            <a:ext cx="153619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965960" y="2029968"/>
            <a:ext cx="15361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❌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057400" y="281635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57400" y="3364992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break SUM, AVERAGE and other measures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75888" y="1847088"/>
            <a:ext cx="153619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675888" y="2029968"/>
            <a:ext cx="15361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➕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767328" y="281635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Columns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67328" y="3364992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Slows the load, clutters your model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85816" y="1847088"/>
            <a:ext cx="153619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385816" y="2029968"/>
            <a:ext cx="15361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🔀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77256" y="281635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Values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77256" y="3364992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"UK", "U.K.", "United Kingdom" = 3 regions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095744" y="1847088"/>
            <a:ext cx="153619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095744" y="2029968"/>
            <a:ext cx="15361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🔤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187184" y="281635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as Text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87184" y="3364992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show 0 instead of real values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in Power Query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touch a single transform, UNDERSTAND your data. Power Query has built-in profiling tools.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278892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56032" y="1051560"/>
            <a:ext cx="2788920" cy="384048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65760" y="108813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Column Distribution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536192"/>
            <a:ext cx="2596896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of value frequencies. Instantly spots outliers, skewed data, and dominant values.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" y="2852928"/>
            <a:ext cx="2596896" cy="201168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20624" y="2862072"/>
            <a:ext cx="2542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View tab → Column Distribution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051560"/>
            <a:ext cx="278892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200400" y="1051560"/>
            <a:ext cx="2788920" cy="384048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310128" y="108813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Column Quality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28416" y="1536192"/>
            <a:ext cx="2596896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Traffic-light summary: % Valid, % Error, % Empty. Your first health check on any column.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28416" y="2852928"/>
            <a:ext cx="2596896" cy="201168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364992" y="2862072"/>
            <a:ext cx="2542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View tab → Column Quality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44768" y="1051560"/>
            <a:ext cx="278892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144768" y="1051560"/>
            <a:ext cx="2788920" cy="384048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254496" y="108813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Column Profile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72784" y="1536192"/>
            <a:ext cx="2596896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stats: min, max, average, distinct count. Click a value in the bar to filter the preview.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2852928"/>
            <a:ext cx="2596896" cy="201168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309360" y="2862072"/>
            <a:ext cx="2542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View tab → Column Profile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" y="4114800"/>
            <a:ext cx="863193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02336" y="418795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checklist before any transform: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02336" y="446227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Check row count   ✅ Any columns 100% null?   ✅ Unexpected data types   ✅ Duplicate key values   ✅ Date range sensible?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Power Query Editor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859536"/>
            <a:ext cx="457200" cy="457200"/>
          </a:xfrm>
          <a:prstGeom prst="ellipse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56032" y="859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832104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tab → "Transform Data"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859536"/>
            <a:ext cx="2578608" cy="402336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400800" y="87782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Opens Power Query Editor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664208"/>
            <a:ext cx="457200" cy="457200"/>
          </a:xfrm>
          <a:prstGeom prst="ellipse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56032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1636776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panel: all loaded queries (tables)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1664208"/>
            <a:ext cx="2578608" cy="402336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400800" y="168249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Click a query to work on 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2468880"/>
            <a:ext cx="457200" cy="457200"/>
          </a:xfrm>
          <a:prstGeom prst="ellipse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5603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2441448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Steps (right): records every action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2468880"/>
            <a:ext cx="2578608" cy="402336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400800" y="24871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Every step is reversible!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3273552"/>
            <a:ext cx="457200" cy="457200"/>
          </a:xfrm>
          <a:prstGeom prst="ellipse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256032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324612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window: current state of the data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09360" y="3273552"/>
            <a:ext cx="2578608" cy="402336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400800" y="32918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Changes not yet applied to model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" y="4078224"/>
            <a:ext cx="457200" cy="457200"/>
          </a:xfrm>
          <a:prstGeom prst="ellipse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256032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" y="4050792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done → "Close &amp; Apply"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09360" y="4078224"/>
            <a:ext cx="2578608" cy="402336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400800" y="409651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Loads cleaned data into the model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Cleaning Techniques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685800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56032" y="685800"/>
            <a:ext cx="2788920" cy="34747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84048" y="7223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Columns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1106424"/>
            <a:ext cx="258775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header → Remove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Columns: keep only what's needed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model size and refresh time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63824" y="685800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163824" y="685800"/>
            <a:ext cx="2788920" cy="34747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291840" y="7223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Rows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91840" y="1106424"/>
            <a:ext cx="258775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dropdown → filter/uncheck values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blanks, test rows, outliers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Steps records each filter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71616" y="685800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071616" y="685800"/>
            <a:ext cx="2788920" cy="34747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199632" y="7223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Data Types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99632" y="1106424"/>
            <a:ext cx="258775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type icon left of column name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"ABC"=Text · "123"=Number · "📅"=Date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fix date columns first!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6032" y="2816352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56032" y="2816352"/>
            <a:ext cx="2788920" cy="34747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84048" y="2852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Columns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4048" y="3236976"/>
            <a:ext cx="258775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→ Split Column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delimiter (comma, space, hyphen)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'First Last' name columns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163824" y="2816352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163824" y="2816352"/>
            <a:ext cx="2788920" cy="347472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291840" y="2852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Nulls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291840" y="3236976"/>
            <a:ext cx="258775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Values → replace null with 0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remove rows where key field is null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 nulls in ID or Date columns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71616" y="2816352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071616" y="2816352"/>
            <a:ext cx="2788920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199632" y="2852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Custom Column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199632" y="3236976"/>
            <a:ext cx="258775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Column → Custom Column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formula: [Price] * [Qty]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at each refresh automatically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Broken Data Sources — A Real-World Must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658368"/>
            <a:ext cx="8631936" cy="420624"/>
          </a:xfrm>
          <a:prstGeom prst="rect">
            <a:avLst/>
          </a:prstGeom>
          <a:solidFill>
            <a:srgbClr val="FFF0ED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02336" y="694944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most common "Day 2" problem: you move the Excel file and Power BI shows a red error. Here's how to fix 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170432"/>
            <a:ext cx="411480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56032" y="1170432"/>
            <a:ext cx="4114800" cy="34747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84048" y="1207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Fix via Data Source Settings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4048" y="1591056"/>
            <a:ext cx="3913632" cy="2505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menu → Options → Data Source Settings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source showing an error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'Change Source...'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to the new file location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 → Close → Refresh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queries using that file now update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73168" y="1170432"/>
            <a:ext cx="411480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773168" y="1170432"/>
            <a:ext cx="4114800" cy="34747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901184" y="1207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Fix inside Power Query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01184" y="1591056"/>
            <a:ext cx="3913632" cy="2505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Power Query Editor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affected query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Applied Steps, click the gear ⚙️ on Source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file path in the dialog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&amp; Apply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when only one query is affected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56032" y="4297680"/>
            <a:ext cx="863193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02336" y="43708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 tip: Use Parameters for file paths. Set a parameter = full file path, reference it in your Source step. Then changing one parameter updates every query at once.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Session 2 — Exercise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631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use Session_2_Chocolate_Sales.csv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411480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56032" y="960120"/>
            <a:ext cx="4114800" cy="34747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84048" y="996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in the dataset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1380744"/>
            <a:ext cx="3913632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 stored as text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rows and null Product Code values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Comments column that needs removing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values: e.g. U.K. = UK, needs fixing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Amount (Boxes Shipped x Unit Price) column is missing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73168" y="960120"/>
            <a:ext cx="411480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773168" y="960120"/>
            <a:ext cx="4114800" cy="347472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901184" y="996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01184" y="1380744"/>
            <a:ext cx="3913632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Column Quality on all columns first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Date column → Date type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rows: nulls at the top and use first line as headers </a:t>
            </a: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unnecessary Comments column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Countries (Replace Values)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Total Sales Amount column → Decimal Number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&amp; Apply and verify clean load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Further in Power Query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685800"/>
            <a:ext cx="27889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56032" y="685800"/>
            <a:ext cx="2788920" cy="34747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84048" y="7223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Queries (JOIN)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1106424"/>
            <a:ext cx="258775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tables on a shared key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SQL JOIN or VLOOKUP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Merge Queries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Outer: keep all first-table rows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685800"/>
            <a:ext cx="27889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200400" y="685800"/>
            <a:ext cx="2788920" cy="34747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328416" y="7223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Queries (UNION)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28416" y="1106424"/>
            <a:ext cx="258775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tables with the same columns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combine Jan + Feb + Mar files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matched by name, not position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44768" y="685800"/>
            <a:ext cx="27889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144768" y="685800"/>
            <a:ext cx="2788920" cy="34747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272784" y="7223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&amp; Unpivot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72784" y="1106424"/>
            <a:ext cx="258775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Unpivot: turn wide columns into rows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Jan|Feb|Mar → Month | Value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→ Unpivot Columns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6032" y="2898648"/>
            <a:ext cx="27889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56032" y="2898648"/>
            <a:ext cx="2788920" cy="34747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84048" y="29352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4048" y="3319272"/>
            <a:ext cx="258775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Aggregate: SUM, COUNT, AVG per group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Group By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summary table without DAX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0" y="2898648"/>
            <a:ext cx="27889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200400" y="2898648"/>
            <a:ext cx="2788920" cy="34747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328416" y="29352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328416" y="3319272"/>
            <a:ext cx="258775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dynamic values (file paths, dates)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Manage Parameters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report that works with any source file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44768" y="2898648"/>
            <a:ext cx="27889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144768" y="2898648"/>
            <a:ext cx="2788920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272784" y="29352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Language (peek)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272784" y="3319272"/>
            <a:ext cx="258775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= one M code line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→ Advanced Editor to inspect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write it — just read it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03 / 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+ DAX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02920" y="4754880"/>
            <a:ext cx="128016" cy="128016"/>
          </a:xfrm>
          <a:prstGeom prst="ellipse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50392" y="4754880"/>
            <a:ext cx="128016" cy="128016"/>
          </a:xfrm>
          <a:prstGeom prst="ellipse">
            <a:avLst/>
          </a:prstGeom>
          <a:solidFill>
            <a:srgbClr val="7A6FBE">
              <a:alpha val="40000"/>
            </a:srgbClr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97864" y="4754880"/>
            <a:ext cx="128016" cy="128016"/>
          </a:xfrm>
          <a:prstGeom prst="ellipse">
            <a:avLst/>
          </a:prstGeom>
          <a:solidFill>
            <a:srgbClr val="7A6FBE">
              <a:alpha val="40000"/>
            </a:srgbClr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545336" y="4754880"/>
            <a:ext cx="128016" cy="128016"/>
          </a:xfrm>
          <a:prstGeom prst="ellipse">
            <a:avLst/>
          </a:prstGeom>
          <a:solidFill>
            <a:srgbClr val="7A6FBE">
              <a:alpha val="40000"/>
            </a:srgbClr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892808" y="4754880"/>
            <a:ext cx="128016" cy="128016"/>
          </a:xfrm>
          <a:prstGeom prst="ellipse">
            <a:avLst/>
          </a:prstGeom>
          <a:solidFill>
            <a:srgbClr val="7A6FBE">
              <a:alpha val="40000"/>
            </a:srgbClr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 Schema — Gold Standard for Power BI Modelling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good Power BI model follows the same pattern: one central Fact table surrounded by Dimension tables.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377440" cy="1188720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383280" y="13716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FACT TABLE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2331720" cy="80467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2148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Customers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3090672"/>
            <a:ext cx="2331720" cy="80467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65760" y="3090672"/>
            <a:ext cx="2148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Date Table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0" y="1463040"/>
            <a:ext cx="2331720" cy="80467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583680" y="1463040"/>
            <a:ext cx="2148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Products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92240" y="3090672"/>
            <a:ext cx="2331720" cy="804672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583680" y="3090672"/>
            <a:ext cx="2148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Geography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606040" y="1865376"/>
            <a:ext cx="777240" cy="73152"/>
          </a:xfrm>
          <a:prstGeom prst="line">
            <a:avLst/>
          </a:prstGeom>
          <a:noFill/>
          <a:ln w="19050">
            <a:solidFill>
              <a:srgbClr val="8A94A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 flipV="1">
            <a:off x="2606040" y="2633472"/>
            <a:ext cx="903068" cy="859536"/>
          </a:xfrm>
          <a:prstGeom prst="line">
            <a:avLst/>
          </a:prstGeom>
          <a:noFill/>
          <a:ln w="19050">
            <a:solidFill>
              <a:srgbClr val="8A94A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760720" y="1865376"/>
            <a:ext cx="731520" cy="0"/>
          </a:xfrm>
          <a:prstGeom prst="line">
            <a:avLst/>
          </a:prstGeom>
          <a:noFill/>
          <a:ln w="19050">
            <a:solidFill>
              <a:srgbClr val="8A94A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760720" y="2267712"/>
            <a:ext cx="731520" cy="1225296"/>
          </a:xfrm>
          <a:prstGeom prst="line">
            <a:avLst/>
          </a:prstGeom>
          <a:noFill/>
          <a:ln w="19050">
            <a:solidFill>
              <a:srgbClr val="8A94A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56032" y="416052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256032" y="4160520"/>
            <a:ext cx="4114800" cy="34747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84048" y="41970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Fact Table contains...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02336" y="45537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Transactions, events, measurements — rows with foreign keys and numeric values (Sales Amount, Quantity, Cost)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73168" y="416052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773168" y="4160520"/>
            <a:ext cx="4114800" cy="34747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901184" y="41970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Dimension Tables contain...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19472" y="45537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attributes — names, categories, dates. Joined to the Fact table by key columns (CustomerID, ProductID, DateKey)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— One to Many (1:*)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658368"/>
            <a:ext cx="8631936" cy="475488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02336" y="70408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 → MANY sales rows.  One product → MANY order lines.  One date → MANY transactions.  This 1:* pattern is the core of the star schema.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6032" y="1234440"/>
            <a:ext cx="411480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56032" y="1234440"/>
            <a:ext cx="4114800" cy="34747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84048" y="1271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create a relationship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4048" y="1655064"/>
            <a:ext cx="391363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Model View (icon on left bar)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CustomerID from Customers table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onto CustomerID in Sales table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appears between the two tables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'1' end = dimension side (unique values)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'*' end = fact side (many rows)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the line to verify settings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73168" y="1234440"/>
            <a:ext cx="41148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773168" y="1234440"/>
            <a:ext cx="4114800" cy="34747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901184" y="1271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Good relationship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01184" y="1655064"/>
            <a:ext cx="3913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1-to-many direction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IDs on the '1' side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join column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73168" y="3063240"/>
            <a:ext cx="41148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773168" y="3063240"/>
            <a:ext cx="4114800" cy="347472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901184" y="3099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Watch out for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01184" y="3483864"/>
            <a:ext cx="3913632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(usually a modelling error)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relationships (dashed line)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keys — rows won't match up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Date Table — Vital for Time Intelligence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640080"/>
            <a:ext cx="8631936" cy="420624"/>
          </a:xfrm>
          <a:prstGeom prst="rect">
            <a:avLst/>
          </a:prstGeom>
          <a:solidFill>
            <a:srgbClr val="FFF8E1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02336" y="676656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Without a proper Date Table, DAX time intelligence functions (YTD, QTD, SAMEPERIODLASTYEAR) will fail or give wrong answers.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143000"/>
            <a:ext cx="41148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56032" y="1143000"/>
            <a:ext cx="4114800" cy="34747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84048" y="1179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Date Table is required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4048" y="1563624"/>
            <a:ext cx="391363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every single date — no gaps allowed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day, contiguous from Jan 1 to Dec 31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as 'Date Table' in Power BI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to Sales[OrderDate] via DateKey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Year, Quarter, Month, Week columns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73168" y="1143000"/>
            <a:ext cx="41148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773168" y="1143000"/>
            <a:ext cx="4114800" cy="34747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901184" y="1179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create one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01184" y="1563624"/>
            <a:ext cx="391363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Fastest: Modeling → New Table, then write: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DateTable = CALENDAR(DATE(2020,1,1), DATE(2026,12,31))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use CALENDARAUTO() — reads min/max dates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columns: Year, Month, Quarter, WeekNum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it: Table tools → Mark as Date Table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56032" y="3218688"/>
            <a:ext cx="8631936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56032" y="3218688"/>
            <a:ext cx="8631936" cy="34747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02336" y="325526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columns to add to your Date Table: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2336" y="3657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" y="3950208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YEAR([Date])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819656" y="3657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MonthNum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19656" y="3950208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MONTH([Date])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36976" y="3657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MonthName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36976" y="3950208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FORMAT([Date],"MMMM")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54296" y="3657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54296" y="3950208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"Q" &amp; QUARTER([Date])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71616" y="3657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WeekNum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71616" y="3950208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WEEKNUM([Date])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88936" y="3657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IsWeekend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88936" y="3950208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WEEKDAY([Date],2) &gt;= 6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ACCC7-B0A5-D9E4-F937-7AE40F5A3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8705F6-B354-2D63-B1EA-C7E6479F06E4}"/>
              </a:ext>
            </a:extLst>
          </p:cNvPr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F4F6C64-00C0-E404-40E7-C5496656C632}"/>
              </a:ext>
            </a:extLst>
          </p:cNvPr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D614C31-791C-2FA9-2C17-250459116BC1}"/>
              </a:ext>
            </a:extLst>
          </p:cNvPr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Date Table — Vital for Time Intelligence</a:t>
            </a:r>
            <a:endParaRPr lang="en-US" sz="1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F59E2A1-3755-3EE3-6341-F41267C5B3C0}"/>
              </a:ext>
            </a:extLst>
          </p:cNvPr>
          <p:cNvSpPr/>
          <p:nvPr/>
        </p:nvSpPr>
        <p:spPr>
          <a:xfrm>
            <a:off x="256032" y="640080"/>
            <a:ext cx="8631936" cy="420624"/>
          </a:xfrm>
          <a:prstGeom prst="rect">
            <a:avLst/>
          </a:prstGeom>
          <a:solidFill>
            <a:srgbClr val="FFF8E1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48BFDA2-C988-8946-C9AA-853038DF07E9}"/>
              </a:ext>
            </a:extLst>
          </p:cNvPr>
          <p:cNvSpPr/>
          <p:nvPr/>
        </p:nvSpPr>
        <p:spPr>
          <a:xfrm>
            <a:off x="402336" y="676656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Without a proper Date Table, DAX time intelligence functions (YTD, QTD, SAMEPERIODLASTYEAR) will fail or give wrong answers.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B5E41D3-3AE4-539F-E54E-944144C4E3BF}"/>
              </a:ext>
            </a:extLst>
          </p:cNvPr>
          <p:cNvSpPr/>
          <p:nvPr/>
        </p:nvSpPr>
        <p:spPr>
          <a:xfrm>
            <a:off x="384048" y="1563624"/>
            <a:ext cx="4273922" cy="25394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buNone/>
            </a:pPr>
            <a:r>
              <a:rPr lang="en-GB" sz="1200" b="0" i="0" dirty="0" err="1">
                <a:solidFill>
                  <a:srgbClr val="303030"/>
                </a:solidFill>
                <a:effectLst/>
              </a:rPr>
              <a:t>DateTable</a:t>
            </a:r>
            <a:r>
              <a:rPr lang="en-GB" sz="1200" b="0" i="0" dirty="0">
                <a:solidFill>
                  <a:srgbClr val="303030"/>
                </a:solidFill>
                <a:effectLst/>
              </a:rPr>
              <a:t> = 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VAR </a:t>
            </a:r>
            <a:r>
              <a:rPr lang="en-GB" sz="1200" b="0" i="0" dirty="0" err="1">
                <a:solidFill>
                  <a:srgbClr val="303030"/>
                </a:solidFill>
                <a:effectLst/>
              </a:rPr>
              <a:t>BaseCalendar</a:t>
            </a:r>
            <a:r>
              <a:rPr lang="en-GB" sz="1200" b="0" i="0" dirty="0">
                <a:solidFill>
                  <a:srgbClr val="303030"/>
                </a:solidFill>
                <a:effectLst/>
              </a:rPr>
              <a:t> = CALENDARAUTO()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RETURN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ADDCOLUMNS (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    </a:t>
            </a:r>
            <a:r>
              <a:rPr lang="en-GB" sz="1200" b="0" i="0" dirty="0" err="1">
                <a:solidFill>
                  <a:srgbClr val="303030"/>
                </a:solidFill>
                <a:effectLst/>
              </a:rPr>
              <a:t>BaseCalendar</a:t>
            </a:r>
            <a:r>
              <a:rPr lang="en-GB" sz="1200" b="0" i="0" dirty="0">
                <a:solidFill>
                  <a:srgbClr val="303030"/>
                </a:solidFill>
                <a:effectLst/>
              </a:rPr>
              <a:t>,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    "Year", YEAR([Date]),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    "Month Number", MONTH([Date]),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    "Month Name", FORMAT([Date], "MMMM"),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    "Quarter", "Q" &amp; FORMAT([Date], "Q"),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    "Year Month", FORMAT([Date], "YYYY-MM"),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    "Day of Week", FORMAT([Date], "DDDD")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)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308B8CA-343F-A56F-230E-A09491BFE0A0}"/>
              </a:ext>
            </a:extLst>
          </p:cNvPr>
          <p:cNvSpPr/>
          <p:nvPr/>
        </p:nvSpPr>
        <p:spPr>
          <a:xfrm>
            <a:off x="4901184" y="1179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create on</a:t>
            </a:r>
            <a:endParaRPr lang="en-US" sz="1250" dirty="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7C7C9D6F-F8CF-9C98-8F75-AD88476CDCAF}"/>
              </a:ext>
            </a:extLst>
          </p:cNvPr>
          <p:cNvSpPr/>
          <p:nvPr/>
        </p:nvSpPr>
        <p:spPr>
          <a:xfrm>
            <a:off x="256032" y="1143000"/>
            <a:ext cx="4114800" cy="34747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51FE3069-86E6-02B7-2053-724E50D70592}"/>
              </a:ext>
            </a:extLst>
          </p:cNvPr>
          <p:cNvSpPr/>
          <p:nvPr/>
        </p:nvSpPr>
        <p:spPr>
          <a:xfrm>
            <a:off x="384048" y="1179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code:</a:t>
            </a:r>
            <a:endParaRPr lang="en-US" sz="1250" dirty="0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69635FCC-A602-1EFB-FBFC-81663B6B497D}"/>
              </a:ext>
            </a:extLst>
          </p:cNvPr>
          <p:cNvSpPr/>
          <p:nvPr/>
        </p:nvSpPr>
        <p:spPr>
          <a:xfrm>
            <a:off x="4773168" y="1143000"/>
            <a:ext cx="4114800" cy="34747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24EF76DC-9933-3732-41FD-8F0F27E957AA}"/>
              </a:ext>
            </a:extLst>
          </p:cNvPr>
          <p:cNvSpPr/>
          <p:nvPr/>
        </p:nvSpPr>
        <p:spPr>
          <a:xfrm>
            <a:off x="4928616" y="1179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/remove elements as needed e.g.:</a:t>
            </a:r>
            <a:endParaRPr lang="en-US" sz="125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34F27FBF-C493-A597-1536-63E31B5BC9FB}"/>
              </a:ext>
            </a:extLst>
          </p:cNvPr>
          <p:cNvSpPr/>
          <p:nvPr/>
        </p:nvSpPr>
        <p:spPr>
          <a:xfrm>
            <a:off x="4798646" y="1716024"/>
            <a:ext cx="4273922" cy="25394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buNone/>
            </a:pPr>
            <a:r>
              <a:rPr lang="en-GB" sz="1200" b="0" i="0" dirty="0" err="1">
                <a:solidFill>
                  <a:srgbClr val="303030"/>
                </a:solidFill>
                <a:effectLst/>
              </a:rPr>
              <a:t>DateTable</a:t>
            </a:r>
            <a:r>
              <a:rPr lang="en-GB" sz="1200" b="0" i="0" dirty="0">
                <a:solidFill>
                  <a:srgbClr val="303030"/>
                </a:solidFill>
                <a:effectLst/>
              </a:rPr>
              <a:t> = 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VAR </a:t>
            </a:r>
            <a:r>
              <a:rPr lang="en-GB" sz="1200" b="0" i="0" dirty="0" err="1">
                <a:solidFill>
                  <a:srgbClr val="303030"/>
                </a:solidFill>
                <a:effectLst/>
              </a:rPr>
              <a:t>BaseCalendar</a:t>
            </a:r>
            <a:r>
              <a:rPr lang="en-GB" sz="1200" b="0" i="0" dirty="0">
                <a:solidFill>
                  <a:srgbClr val="303030"/>
                </a:solidFill>
                <a:effectLst/>
              </a:rPr>
              <a:t> = CALENDARAUTO()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RETURN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ADDCOLUMNS (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    </a:t>
            </a:r>
            <a:r>
              <a:rPr lang="en-GB" sz="1200" b="0" i="0" dirty="0" err="1">
                <a:solidFill>
                  <a:srgbClr val="303030"/>
                </a:solidFill>
                <a:effectLst/>
              </a:rPr>
              <a:t>BaseCalendar</a:t>
            </a:r>
            <a:r>
              <a:rPr lang="en-GB" sz="1200" b="0" i="0" dirty="0">
                <a:solidFill>
                  <a:srgbClr val="303030"/>
                </a:solidFill>
                <a:effectLst/>
              </a:rPr>
              <a:t>,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    "Year", YEAR([Date]),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    "Month Number", MONTH([Date]),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    "Month Name", FORMAT([Date], "MMMM"),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     “Year Month", FORMAT([Date], "YYYY-MM"),</a:t>
            </a:r>
          </a:p>
          <a:p>
            <a:pPr algn="l">
              <a:buNone/>
            </a:pPr>
            <a:r>
              <a:rPr lang="en-GB" sz="1200" b="0" i="0" dirty="0">
                <a:solidFill>
                  <a:srgbClr val="303030"/>
                </a:solidFill>
                <a:effectLst/>
              </a:rPr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3681579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DAX — 3 Core Functions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640080"/>
            <a:ext cx="8631936" cy="402336"/>
          </a:xfrm>
          <a:prstGeom prst="rect">
            <a:avLst/>
          </a:prstGeom>
          <a:solidFill>
            <a:srgbClr val="EDE9FF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02336" y="676656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2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= Data Analysis Expressions. Runs after data loads. Think: Excel formulas, but operating on entire tables and filtered contexts.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170432"/>
            <a:ext cx="8631936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56032" y="1170432"/>
            <a:ext cx="1298448" cy="1060704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56032" y="1170432"/>
            <a:ext cx="12984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64208" y="1261872"/>
            <a:ext cx="7086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Sales = SUM(Sales[Revenue])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664208" y="1719072"/>
            <a:ext cx="7086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every value in a column. Your most-used DAX function by far.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" y="2359152"/>
            <a:ext cx="8631936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56032" y="2359152"/>
            <a:ext cx="1298448" cy="1060704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56032" y="2359152"/>
            <a:ext cx="12984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64208" y="2450592"/>
            <a:ext cx="7086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Count = COUNT(Sales[OrderID])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664208" y="2907792"/>
            <a:ext cx="7086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non-blank rows. Use COUNTA for text columns.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" y="3547872"/>
            <a:ext cx="8631936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56032" y="3547872"/>
            <a:ext cx="1298448" cy="106070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256032" y="3547872"/>
            <a:ext cx="12984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64208" y="3639312"/>
            <a:ext cx="7086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 Sales = CALCULATE([Total Sales], Region[Region]="West")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664208" y="4096512"/>
            <a:ext cx="7086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Modifies the filter context of a measure. The most powerful DAX function.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Deep Dive — SUM vs SUMX (Iterator Functions)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common points of confusion. Understanding this distinction unlocks a lot of DAX.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41605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56032" y="1051560"/>
            <a:ext cx="4160520" cy="402336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84048" y="10789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 —  Simple column total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15361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Sales = SUM(Sales[Revenue])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2336" y="2057400"/>
            <a:ext cx="146304" cy="146304"/>
          </a:xfrm>
          <a:prstGeom prst="ellipse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40080" y="202996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up an existing column directly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02336" y="2560320"/>
            <a:ext cx="146304" cy="146304"/>
          </a:xfrm>
          <a:prstGeom prst="ellipse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40080" y="25328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must already exist in the table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02336" y="3063240"/>
            <a:ext cx="146304" cy="146304"/>
          </a:xfrm>
          <a:prstGeom prst="ellipse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40080" y="303580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no row-by-row logic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02336" y="3566160"/>
            <a:ext cx="146304" cy="146304"/>
          </a:xfrm>
          <a:prstGeom prst="ellipse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40080" y="353872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the value already exists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02336" y="4069080"/>
            <a:ext cx="146304" cy="146304"/>
          </a:xfrm>
          <a:prstGeom prst="ellipse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40080" y="404164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Revenue column is already there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27448" y="1051560"/>
            <a:ext cx="41605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727448" y="1051560"/>
            <a:ext cx="4160520" cy="402336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846320" y="10789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SUMX  —  Row-by-row calculation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15361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= SUMX(Sales, Sales[Price]*Sales[Qty])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64608" y="2057400"/>
            <a:ext cx="146304" cy="146304"/>
          </a:xfrm>
          <a:prstGeom prst="ellipse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102352" y="202996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row by row, calculates, then sums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64608" y="2560320"/>
            <a:ext cx="146304" cy="146304"/>
          </a:xfrm>
          <a:prstGeom prst="ellipse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102352" y="25328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when you need to multiply first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864608" y="3063240"/>
            <a:ext cx="146304" cy="146304"/>
          </a:xfrm>
          <a:prstGeom prst="ellipse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102352" y="303580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slower on very large tables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864608" y="3566160"/>
            <a:ext cx="146304" cy="146304"/>
          </a:xfrm>
          <a:prstGeom prst="ellipse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5102352" y="353872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the value must be derived per row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864608" y="4069080"/>
            <a:ext cx="146304" cy="146304"/>
          </a:xfrm>
          <a:prstGeom prst="ellipse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5102352" y="404164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Price × Qty column doesn't exist yet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56032" y="4901184"/>
            <a:ext cx="8631936" cy="182880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402336" y="4910328"/>
            <a:ext cx="8321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Same X-pattern applies to: AVERAGEX, COUNTX, MAXX, MINX — all iterator functions that evaluate per row then aggregate.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DAX Functions — Reference Sheet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685800"/>
            <a:ext cx="422452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56032" y="685800"/>
            <a:ext cx="1261872" cy="135331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56032" y="685800"/>
            <a:ext cx="126187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DISTINCTCOUNT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627632" y="7772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DISTINCTCOUNT(Sales[CustomerID])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27632" y="121615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unique values. Different from COUNT which counts all non-blanks.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0016" y="685800"/>
            <a:ext cx="422452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700016" y="685800"/>
            <a:ext cx="1261872" cy="135331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700016" y="685800"/>
            <a:ext cx="126187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71616" y="7772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DIVIDE([Total Sales], [Order Count], 0)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71616" y="121615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division — returns 0 instead of error when denominator is zero.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56032" y="2148840"/>
            <a:ext cx="422452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56032" y="2148840"/>
            <a:ext cx="1261872" cy="135331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56032" y="2148840"/>
            <a:ext cx="126187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627632" y="224028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IF([Margin%] &gt; 0.2, "High", "Low")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27632" y="267919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logic. Returns one of two values based on a true/false test.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0016" y="2148840"/>
            <a:ext cx="422452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700016" y="2148840"/>
            <a:ext cx="1261872" cy="135331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700016" y="2148840"/>
            <a:ext cx="126187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071616" y="224028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RELATED(Customers[Segment])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71616" y="267919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a value from a related table. Requires an active relationship.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56032" y="3611880"/>
            <a:ext cx="422452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256032" y="3611880"/>
            <a:ext cx="1261872" cy="1353312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256032" y="3611880"/>
            <a:ext cx="126187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627632" y="370332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CALCULATE([Sales], ALL(Region))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627632" y="414223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filters — use it to calculate % of grand total.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00016" y="3611880"/>
            <a:ext cx="422452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4700016" y="3611880"/>
            <a:ext cx="1261872" cy="135331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700016" y="3611880"/>
            <a:ext cx="126187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RANKX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071616" y="370332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RANKX(ALL(Products), [Total Sales])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71616" y="414223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items across the full list regardless of any slicer filter.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 vs Measures — Key Distinction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learners often mix these up. They behave very differently and serve different purposes.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416052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56032" y="1051560"/>
            <a:ext cx="4160520" cy="40233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84048" y="10789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Calculated Column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2336" y="1572768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157276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/ Data 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2336" y="2075688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207568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by row at refresh time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" y="2578608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257860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model (uses RAM)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" y="3081528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as: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45920" y="308152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column in the table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336" y="3584448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358444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Categories, labels, bucketing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" y="4087368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45920" y="408736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[Profit] = [Revenue] – [Cost]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27448" y="1051560"/>
            <a:ext cx="416052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727448" y="1051560"/>
            <a:ext cx="4160520" cy="402336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846320" y="10789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Measure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1572768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44768" y="157276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View (New Measure)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2075688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44768" y="20756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demand, per visual's filter context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2578608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44768" y="257860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only — no data stored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3081528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as: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44768" y="308152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with a calculator icon (fx)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3584448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44768" y="358444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aggregations, ratios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4087368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44768" y="408736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[Avg Order] = DIVIDE([Sales],[Orders])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56032" y="4901184"/>
            <a:ext cx="8631936" cy="182880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402336" y="4910328"/>
            <a:ext cx="8321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 Prefer measures over calculated columns wherever possible — they are dynamic, reusable, and don't bloat your model.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Session 3 — Exercise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631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Session_3_AdventureWorks Sales + Customers tables. Create model, Date Table, and key measures.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411480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56032" y="960120"/>
            <a:ext cx="4114800" cy="34747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84048" y="996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Build the model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1380744"/>
            <a:ext cx="3913632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salesorders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customer tables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Model View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relationship: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salesorders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ShipToAddressID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→ customer[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AddressID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Date Table: CALENDARAUTO()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Year, 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MonthNum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MonthName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Quarter columns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as Date Table → link to 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salesorders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OrderDate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73168" y="960120"/>
            <a:ext cx="411480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773168" y="960120"/>
            <a:ext cx="4114800" cy="34747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901184" y="996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Write measures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01184" y="1380744"/>
            <a:ext cx="3913632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= SUM(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salesorders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TotalDue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= SUM(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salesorders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Amount = SUM(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salesorders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TaxAmt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Count = DISTINCTCOUNT(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salesorders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SalesOrderID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 = DIVIDE([Total Revenue],[Order Count])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Country slicer (customer[</a:t>
            </a:r>
            <a:r>
              <a:rPr lang="en-US" sz="1150" dirty="0" err="1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CountryName</a:t>
            </a: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Year slicer from the Date Table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04 / 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Storytelling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02920" y="4754880"/>
            <a:ext cx="128016" cy="128016"/>
          </a:xfrm>
          <a:prstGeom prst="ellipse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50392" y="4754880"/>
            <a:ext cx="128016" cy="128016"/>
          </a:xfrm>
          <a:prstGeom prst="ellipse">
            <a:avLst/>
          </a:prstGeom>
          <a:solidFill>
            <a:srgbClr val="E6A817">
              <a:alpha val="40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97864" y="4754880"/>
            <a:ext cx="128016" cy="128016"/>
          </a:xfrm>
          <a:prstGeom prst="ellipse">
            <a:avLst/>
          </a:prstGeom>
          <a:solidFill>
            <a:srgbClr val="E6A817">
              <a:alpha val="40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545336" y="4754880"/>
            <a:ext cx="128016" cy="128016"/>
          </a:xfrm>
          <a:prstGeom prst="ellipse">
            <a:avLst/>
          </a:prstGeom>
          <a:solidFill>
            <a:srgbClr val="E6A817">
              <a:alpha val="40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892808" y="4754880"/>
            <a:ext cx="128016" cy="128016"/>
          </a:xfrm>
          <a:prstGeom prst="ellipse">
            <a:avLst/>
          </a:prstGeom>
          <a:solidFill>
            <a:srgbClr val="E6A817">
              <a:alpha val="40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Visual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713232"/>
            <a:ext cx="2788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56032" y="804672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/ Column Chart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88366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Compare categories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128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More than 10-12 bars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713232"/>
            <a:ext cx="2788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200400" y="804672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10128" y="148132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188366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Trends over time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22128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Non-time categories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44768" y="713232"/>
            <a:ext cx="2788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144768" y="804672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🥧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54496" y="148132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/ Donut Chart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54496" y="188366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Part of whole (&lt; 5 parts)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54496" y="22128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Many slices — use bar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889504"/>
            <a:ext cx="2788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256032" y="2980944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🗺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65760" y="36576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05993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Geographic distribution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If location isn't the story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889504"/>
            <a:ext cx="2788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3200400" y="2980944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🃏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310128" y="36576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10128" y="405993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Single headline KPI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10128" y="43891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More than 3–4 per page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44768" y="2889504"/>
            <a:ext cx="27889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144768" y="2980944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254496" y="36576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/ Matrix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54496" y="405993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9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Detailed row-level data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54496" y="43891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As the only page visual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Principles — Keep it Clean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685800"/>
            <a:ext cx="4133088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56032" y="685800"/>
            <a:ext cx="4133088" cy="384048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02336" y="713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" y="1152144"/>
            <a:ext cx="3877056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related visuals together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story per page or tab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fonts, sizes and colours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that state the insight not just the metric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space is your friend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KPI top-left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685800"/>
            <a:ext cx="4133088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754880" y="685800"/>
            <a:ext cx="4133088" cy="38404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901184" y="713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DON'T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19472" y="1152144"/>
            <a:ext cx="3877056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8 different chart types on one page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3D charts — they distort values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red/green as your only contrast (accessibility)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fonts below 10pt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put raw tables next to summary charts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WordArt or clip art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Interactivity — Beyond Static Charts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features are what make Power BI reports feel powerful. 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060704"/>
            <a:ext cx="41148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56032" y="1060704"/>
            <a:ext cx="4114800" cy="34747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84048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🖱️  Cross-filter &amp; Cross-highlight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1481328"/>
            <a:ext cx="391363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bar, segment or map region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visuals on the page filter automatically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Ctrl to select multiple values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behaviour: Format → Edit interactions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73168" y="1060704"/>
            <a:ext cx="41148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773168" y="1060704"/>
            <a:ext cx="4114800" cy="34747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901184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Tooltips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01184" y="1481328"/>
            <a:ext cx="391363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any data point to see details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Customise: add more fields to the Tooltip well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page tooltip: design a full mini-page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context without cluttering the main view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6032" y="3127248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56032" y="3127248"/>
            <a:ext cx="4114800" cy="34747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84048" y="3163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Drill-through Pages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84048" y="3547872"/>
            <a:ext cx="3913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a data point → Drill through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user to a detail page filtered to that item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click 'West' → see West-only detail report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drag a field to the Drill through well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73168" y="3127248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773168" y="3127248"/>
            <a:ext cx="4114800" cy="347472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901184" y="3163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Drill-down in Visuals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01184" y="3547872"/>
            <a:ext cx="3913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in a visual: Year → Quarter → Month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expand arrows to go deeper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a bar to drill into its children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date hierarchy or product category hierarchy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Quick Wins for Beginners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includes built-in AI tools that make dashboards feel intelligent. Great for portfolio demos, however, you need a Premium subscription</a:t>
            </a:r>
            <a:r>
              <a:rPr lang="en-US" sz="13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use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411480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56032" y="1051560"/>
            <a:ext cx="4114800" cy="34747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84048" y="10881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Q&amp;A Visual — Ask Your Data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1472184"/>
            <a:ext cx="3913632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→ Q&amp;A visual on the report canvas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question: 'Total sales by region 2024'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automatically builds the visual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explore without knowing chart types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answer to a standard visual to keep it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73168" y="1051560"/>
            <a:ext cx="411480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773168" y="1051560"/>
            <a:ext cx="4114800" cy="347472"/>
          </a:xfrm>
          <a:prstGeom prst="rect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901184" y="10881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Smart Narratives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01184" y="1472184"/>
            <a:ext cx="3913632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→ Smart Narrative visual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auto-generates a text summary of the page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dynamically when slicers are applied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'West had the highest sales at $420K (+12% YoY)'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exec reports — tells the story in words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6032" y="32918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56032" y="3291840"/>
            <a:ext cx="4114800" cy="347472"/>
          </a:xfrm>
          <a:prstGeom prst="rect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84048" y="33284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Key Influencers Visual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84048" y="3712464"/>
            <a:ext cx="3913632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 factors drive a metric up or down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→ Key Influencers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your metric + potential factors in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explains: 'Sales are higher when Region = West'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73168" y="32918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773168" y="3291840"/>
            <a:ext cx="4114800" cy="347472"/>
          </a:xfrm>
          <a:prstGeom prst="rect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901184" y="33284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Anomaly Detection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01184" y="3712464"/>
            <a:ext cx="3913632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a line chart → Find anomalies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highlights unusual spikes or dips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likely causes automatically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 during data exploration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That Tell a Story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title should tell the reader WHAT to see — not just what the chart shows.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56032" y="1143000"/>
            <a:ext cx="3931920" cy="73152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02336" y="127101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Sales by Region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4315968" cy="73152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718304" y="1271016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West leads with 42% of total revenue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2075688"/>
            <a:ext cx="3931920" cy="73152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02336" y="220370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Monthly Orders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075688"/>
            <a:ext cx="4315968" cy="73152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18304" y="2203704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Orders peak every December — plan stock accordingly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" y="3008376"/>
            <a:ext cx="3931920" cy="73152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02336" y="313639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Customer Count by Segment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3008376"/>
            <a:ext cx="4315968" cy="73152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718304" y="3136392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Consumer segment drives 60% of customer base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6032" y="3941064"/>
            <a:ext cx="3931920" cy="73152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02336" y="406908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Profit Margin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3941064"/>
            <a:ext cx="4315968" cy="73152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718304" y="406908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Technology margins are 3× higher than Office supplies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to the Power BI Service — Close the Loop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56032" y="640080"/>
            <a:ext cx="8631936" cy="402336"/>
          </a:xfrm>
          <a:prstGeom prst="rect">
            <a:avLst/>
          </a:prstGeom>
          <a:solidFill>
            <a:srgbClr val="FFFBE6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402336" y="676656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Publishing your report is not 'advanced’, however you might need a special access rights to do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6032" y="1280160"/>
            <a:ext cx="420624" cy="420624"/>
          </a:xfrm>
          <a:prstGeom prst="ellipse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56032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24358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Desktop: Home → Publish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280160"/>
            <a:ext cx="2743200" cy="402336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263640" y="129844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Sign in to your Microsoft account (free)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" y="1901952"/>
            <a:ext cx="420624" cy="420624"/>
          </a:xfrm>
          <a:prstGeom prst="ellipse">
            <a:avLst/>
          </a:prstGeom>
          <a:solidFill>
            <a:srgbClr val="7A6FBE"/>
          </a:solidFill>
          <a:ln w="12700">
            <a:solidFill>
              <a:srgbClr val="7A6F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56032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" y="186537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Workspace (use 'My Workspace' for now)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1901952"/>
            <a:ext cx="2743200" cy="402336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263640" y="192024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Workspaces = folders in the Service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2523744"/>
            <a:ext cx="420624" cy="420624"/>
          </a:xfrm>
          <a:prstGeom prst="ellipse">
            <a:avLst/>
          </a:prstGeom>
          <a:solidFill>
            <a:srgbClr val="2AB7CA"/>
          </a:solidFill>
          <a:ln w="12700">
            <a:solidFill>
              <a:srgbClr val="2AB7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56032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248716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link: 'Open in Power BI'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2523744"/>
            <a:ext cx="2743200" cy="402336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263640" y="254203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Opens your report in the browser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" y="3145536"/>
            <a:ext cx="420624" cy="420624"/>
          </a:xfrm>
          <a:prstGeom prst="ellipse">
            <a:avLst/>
          </a:prstGeom>
          <a:solidFill>
            <a:srgbClr val="3D9970"/>
          </a:solidFill>
          <a:ln w="12700">
            <a:solidFill>
              <a:srgbClr val="3D99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256032" y="3145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" y="31089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slicers and cross-filters in the browser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3145536"/>
            <a:ext cx="2743200" cy="402336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263640" y="316382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Same interactivity — no Desktop needed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6032" y="3767328"/>
            <a:ext cx="420624" cy="420624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256032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04672" y="373075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click Share button → enter email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2200" y="3767328"/>
            <a:ext cx="2743200" cy="402336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263640" y="3785616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Colleague needs Power BI Pro or free trial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6032" y="4389120"/>
            <a:ext cx="420624" cy="420624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256032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04672" y="435254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 mobile: scan QR or open app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72200" y="4389120"/>
            <a:ext cx="2743200" cy="402336"/>
          </a:xfrm>
          <a:prstGeom prst="rect">
            <a:avLst/>
          </a:prstGeom>
          <a:solidFill>
            <a:srgbClr val="EDF0F7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6263640" y="440740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See how it looks on a phone screen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0352"/>
            <a:ext cx="9144000" cy="5029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47472" y="82296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Session 4 — Final Project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92608" y="640080"/>
            <a:ext cx="8631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1-page executive dashboard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422452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457200" cy="457200"/>
          </a:xfrm>
          <a:prstGeom prst="ellipse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6576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1161288"/>
            <a:ext cx="3438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clean full dataset (to be explained) 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856232"/>
            <a:ext cx="422452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65760" y="1975104"/>
            <a:ext cx="457200" cy="457200"/>
          </a:xfrm>
          <a:prstGeom prst="ellipse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65760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1965960"/>
            <a:ext cx="3438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star schema model + Date Table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" y="2660904"/>
            <a:ext cx="422452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65760" y="2779776"/>
            <a:ext cx="457200" cy="457200"/>
          </a:xfrm>
          <a:prstGeom prst="ellipse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6576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2770632"/>
            <a:ext cx="3438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4 measures e.g. Sales, SUMX Revenue, Order Count, Avg Order Value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" y="3465576"/>
            <a:ext cx="422452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65760" y="3584448"/>
            <a:ext cx="457200" cy="457200"/>
          </a:xfrm>
          <a:prstGeom prst="ellipse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6576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2688" y="3575304"/>
            <a:ext cx="3438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bar chart: Sales by Category with insight title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" y="4270248"/>
            <a:ext cx="422452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365760" y="4389120"/>
            <a:ext cx="457200" cy="457200"/>
          </a:xfrm>
          <a:prstGeom prst="ellipse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2688" y="4379976"/>
            <a:ext cx="3438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line chart: Monthly sales trend from Date Table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0016" y="1051560"/>
            <a:ext cx="422452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809744" y="1170432"/>
            <a:ext cx="457200" cy="457200"/>
          </a:xfrm>
          <a:prstGeom prst="ellipse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809744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76672" y="1161288"/>
            <a:ext cx="3438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3 KPI Cards at the top of the page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00016" y="1856232"/>
            <a:ext cx="422452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4809744" y="1975104"/>
            <a:ext cx="457200" cy="457200"/>
          </a:xfrm>
          <a:prstGeom prst="ellipse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809744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76672" y="1965960"/>
            <a:ext cx="3438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Region slicer + Year slicer — test cross-filtering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00016" y="2660904"/>
            <a:ext cx="422452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4809744" y="2779776"/>
            <a:ext cx="457200" cy="457200"/>
          </a:xfrm>
          <a:prstGeom prst="ellipse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809744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76672" y="2770632"/>
            <a:ext cx="3438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changing design of your visuals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00016" y="3465576"/>
            <a:ext cx="422452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39" name="Shape 37"/>
          <p:cNvSpPr/>
          <p:nvPr/>
        </p:nvSpPr>
        <p:spPr>
          <a:xfrm>
            <a:off x="4809744" y="3584448"/>
            <a:ext cx="457200" cy="457200"/>
          </a:xfrm>
          <a:prstGeom prst="ellipse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4809744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376672" y="3575304"/>
            <a:ext cx="3438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dataset individually and build your own visual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00016" y="4270248"/>
            <a:ext cx="422452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4809744" y="4389120"/>
            <a:ext cx="457200" cy="457200"/>
          </a:xfrm>
          <a:prstGeom prst="ellipse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4809744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376672" y="4379976"/>
            <a:ext cx="3438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insights did you generate?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C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now ready to: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024128"/>
            <a:ext cx="77724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Import, profile and clean any dataset using Power Query EDA tools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broken data source paths — a real-world day-2 skill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star-schema model with a proper Date Table and correct relationships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DAX: SUM, SUMX, CALCULATE, DIVIDE, DISTINCTCOUNT, IF, RANKX and more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interactive, insight-driven dashboard with slicers, drill-through and AI features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Power BI Service, share with colleagues and view on mobile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456432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8862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DAX: time intelligence (DATEADD, SAMEPERIODLASTYEAR, YTD)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(RLS) — different users see different data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 governance, workspaces and certified datasets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8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+ Python / R integration for advanced analytics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4095</Words>
  <Application>Microsoft Office PowerPoint</Application>
  <PresentationFormat>On-screen Show (16:9)</PresentationFormat>
  <Paragraphs>650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— 4-Session Course</dc:title>
  <dc:subject>PptxGenJS Presentation</dc:subject>
  <dc:creator>PptxGenJS</dc:creator>
  <cp:lastModifiedBy>Vaiva Lilionyte</cp:lastModifiedBy>
  <cp:revision>10</cp:revision>
  <dcterms:created xsi:type="dcterms:W3CDTF">2026-04-20T09:21:41Z</dcterms:created>
  <dcterms:modified xsi:type="dcterms:W3CDTF">2026-04-22T14:05:37Z</dcterms:modified>
</cp:coreProperties>
</file>